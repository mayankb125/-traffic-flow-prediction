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954" r:id="rId4"/>
  </p:sldMasterIdLst>
  <p:notesMasterIdLst>
    <p:notesMasterId r:id="rId16"/>
  </p:notesMasterIdLst>
  <p:handoutMasterIdLst>
    <p:handoutMasterId r:id="rId17"/>
  </p:handoutMasterIdLst>
  <p:sldIdLst>
    <p:sldId id="273" r:id="rId5"/>
    <p:sldId id="322" r:id="rId6"/>
    <p:sldId id="323" r:id="rId7"/>
    <p:sldId id="325" r:id="rId8"/>
    <p:sldId id="315" r:id="rId9"/>
    <p:sldId id="286" r:id="rId10"/>
    <p:sldId id="318" r:id="rId11"/>
    <p:sldId id="319" r:id="rId12"/>
    <p:sldId id="320" r:id="rId13"/>
    <p:sldId id="326" r:id="rId14"/>
    <p:sldId id="32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C621"/>
    <a:srgbClr val="EEEEEE"/>
    <a:srgbClr val="87175F"/>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034" autoAdjust="0"/>
  </p:normalViewPr>
  <p:slideViewPr>
    <p:cSldViewPr>
      <p:cViewPr varScale="1">
        <p:scale>
          <a:sx n="70" d="100"/>
          <a:sy n="70" d="100"/>
        </p:scale>
        <p:origin x="536" y="192"/>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4/9/2025</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4/9/2025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1935294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3" Type="http://schemas.openxmlformats.org/officeDocument/2006/relationships/hyperlink" Target="https://pems.dot.ca.gov/" TargetMode="External"/><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IN" dirty="0"/>
              <a:t>Introduction to Traffic Prediction</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a:xfrm>
            <a:off x="548640" y="2231886"/>
            <a:ext cx="10288693" cy="4095762"/>
          </a:xfrm>
        </p:spPr>
        <p:txBody>
          <a:bodyPr>
            <a:noAutofit/>
          </a:bodyPr>
          <a:lstStyle/>
          <a:p>
            <a:r>
              <a:rPr lang="en-US" sz="2200" dirty="0"/>
              <a:t>Traffic prediction is essential for effective urban planning and intelligent transportation systems. It involves estimating future traffic conditions using historical data and real-time observations, considering factors like weather and events. As urban areas grow and vehicle numbers increase, traditional traffic management methods fall short, leading to the adoption of advanced technologies like machine learning.</a:t>
            </a:r>
          </a:p>
          <a:p>
            <a:r>
              <a:rPr lang="en-US" sz="2200" dirty="0"/>
              <a:t>These innovative approaches analyze data from sensors and GPS devices to identify traffic patterns and potential bottlenecks. Accurate predictions benefit commuters by providing real-time travel information and assist city planners in designing better road systems and improving public transportation. Ultimately, effective traffic prediction enhances safety, efficiency, and sustainability in urban mobility.</a:t>
            </a:r>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AD2E85-F2FB-AA33-F1DD-A71504334A9A}"/>
              </a:ext>
            </a:extLst>
          </p:cNvPr>
          <p:cNvSpPr>
            <a:spLocks noGrp="1"/>
          </p:cNvSpPr>
          <p:nvPr>
            <p:ph type="body" sz="quarter" idx="14"/>
          </p:nvPr>
        </p:nvSpPr>
        <p:spPr/>
        <p:txBody>
          <a:bodyPr/>
          <a:lstStyle/>
          <a:p>
            <a:endParaRPr lang="en-IN"/>
          </a:p>
        </p:txBody>
      </p:sp>
      <p:sp>
        <p:nvSpPr>
          <p:cNvPr id="3" name="Text Placeholder 2">
            <a:extLst>
              <a:ext uri="{FF2B5EF4-FFF2-40B4-BE49-F238E27FC236}">
                <a16:creationId xmlns:a16="http://schemas.microsoft.com/office/drawing/2014/main" id="{39AF68FD-58CF-9B80-1A88-CD50B0E6CC6C}"/>
              </a:ext>
            </a:extLst>
          </p:cNvPr>
          <p:cNvSpPr>
            <a:spLocks noGrp="1"/>
          </p:cNvSpPr>
          <p:nvPr>
            <p:ph type="body" sz="quarter" idx="12"/>
          </p:nvPr>
        </p:nvSpPr>
        <p:spPr/>
        <p:txBody>
          <a:bodyPr/>
          <a:lstStyle/>
          <a:p>
            <a:endParaRPr lang="en-IN" dirty="0"/>
          </a:p>
        </p:txBody>
      </p:sp>
      <p:sp>
        <p:nvSpPr>
          <p:cNvPr id="4" name="Title 3">
            <a:extLst>
              <a:ext uri="{FF2B5EF4-FFF2-40B4-BE49-F238E27FC236}">
                <a16:creationId xmlns:a16="http://schemas.microsoft.com/office/drawing/2014/main" id="{F5C36C58-C1A5-5DA0-95B3-845AF08014EA}"/>
              </a:ext>
            </a:extLst>
          </p:cNvPr>
          <p:cNvSpPr>
            <a:spLocks noGrp="1"/>
          </p:cNvSpPr>
          <p:nvPr>
            <p:ph type="ctrTitle"/>
          </p:nvPr>
        </p:nvSpPr>
        <p:spPr>
          <a:xfrm>
            <a:off x="1378135" y="692697"/>
            <a:ext cx="7232465" cy="3258942"/>
          </a:xfrm>
        </p:spPr>
        <p:txBody>
          <a:bodyPr/>
          <a:lstStyle/>
          <a:p>
            <a:r>
              <a:rPr lang="en-US" dirty="0"/>
              <a:t>problem statement </a:t>
            </a:r>
            <a:endParaRPr lang="en-IN" dirty="0"/>
          </a:p>
        </p:txBody>
      </p:sp>
      <p:sp>
        <p:nvSpPr>
          <p:cNvPr id="5" name="Subtitle 4">
            <a:extLst>
              <a:ext uri="{FF2B5EF4-FFF2-40B4-BE49-F238E27FC236}">
                <a16:creationId xmlns:a16="http://schemas.microsoft.com/office/drawing/2014/main" id="{FD85BDE9-C2C6-39BE-CCEA-D6DDE1047062}"/>
              </a:ext>
            </a:extLst>
          </p:cNvPr>
          <p:cNvSpPr>
            <a:spLocks noGrp="1"/>
          </p:cNvSpPr>
          <p:nvPr>
            <p:ph type="subTitle" idx="1"/>
          </p:nvPr>
        </p:nvSpPr>
        <p:spPr>
          <a:xfrm>
            <a:off x="1378134" y="1988840"/>
            <a:ext cx="6158026" cy="3543279"/>
          </a:xfrm>
        </p:spPr>
        <p:txBody>
          <a:bodyPr>
            <a:noAutofit/>
          </a:bodyPr>
          <a:lstStyle/>
          <a:p>
            <a:r>
              <a:rPr lang="en-US" dirty="0"/>
              <a:t>"With the rapid increase in urbanization and vehicle usage, traffic congestion has become a significant challenge in modern cities. Unpredictable traffic flow impacts daily commuting, freight logistics, and emergency response times, leading to time losses, increased fuel consumption, and environmental pollution. Current traffic management systems often lack the capability to predict traffic patterns accurately, making it difficult for authorities to implement proactive measures. This project aims to develop a robust traffic prediction model using machine learning techniques to analyze historical traffic data and provide accurate traffic flow forecasts. The objective is to enhance decision-making for traffic management, reduce congestion, and improve urban mobility efficiency."</a:t>
            </a:r>
            <a:endParaRPr lang="en-IN" dirty="0"/>
          </a:p>
        </p:txBody>
      </p:sp>
      <p:pic>
        <p:nvPicPr>
          <p:cNvPr id="11" name="Picture Placeholder 10">
            <a:extLst>
              <a:ext uri="{FF2B5EF4-FFF2-40B4-BE49-F238E27FC236}">
                <a16:creationId xmlns:a16="http://schemas.microsoft.com/office/drawing/2014/main" id="{A56B49A6-8CB4-804B-8E52-149875E5A1D6}"/>
              </a:ext>
            </a:extLst>
          </p:cNvPr>
          <p:cNvPicPr>
            <a:picLocks noGrp="1" noChangeAspect="1"/>
          </p:cNvPicPr>
          <p:nvPr>
            <p:ph type="pic" sz="quarter" idx="11"/>
          </p:nvPr>
        </p:nvPicPr>
        <p:blipFill>
          <a:blip r:embed="rId2"/>
          <a:srcRect l="24701" r="24701"/>
          <a:stretch>
            <a:fillRect/>
          </a:stretch>
        </p:blipFill>
        <p:spPr/>
      </p:pic>
    </p:spTree>
    <p:extLst>
      <p:ext uri="{BB962C8B-B14F-4D97-AF65-F5344CB8AC3E}">
        <p14:creationId xmlns:p14="http://schemas.microsoft.com/office/powerpoint/2010/main" val="1700967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D55308B-4392-38B2-365F-8DDB53DFD80C}"/>
              </a:ext>
            </a:extLst>
          </p:cNvPr>
          <p:cNvSpPr>
            <a:spLocks noGrp="1"/>
          </p:cNvSpPr>
          <p:nvPr>
            <p:ph type="pic" sz="quarter" idx="11"/>
          </p:nvPr>
        </p:nvSpPr>
        <p:spPr/>
      </p:sp>
      <p:sp>
        <p:nvSpPr>
          <p:cNvPr id="3" name="Text Placeholder 2">
            <a:extLst>
              <a:ext uri="{FF2B5EF4-FFF2-40B4-BE49-F238E27FC236}">
                <a16:creationId xmlns:a16="http://schemas.microsoft.com/office/drawing/2014/main" id="{8AEE6229-1482-BD8E-87FE-58E9AE620451}"/>
              </a:ext>
            </a:extLst>
          </p:cNvPr>
          <p:cNvSpPr>
            <a:spLocks noGrp="1"/>
          </p:cNvSpPr>
          <p:nvPr>
            <p:ph type="body" sz="quarter" idx="13"/>
          </p:nvPr>
        </p:nvSpPr>
        <p:spPr/>
        <p:txBody>
          <a:bodyPr/>
          <a:lstStyle/>
          <a:p>
            <a:endParaRPr lang="en-IN"/>
          </a:p>
        </p:txBody>
      </p:sp>
      <p:sp>
        <p:nvSpPr>
          <p:cNvPr id="4" name="Text Placeholder 3">
            <a:extLst>
              <a:ext uri="{FF2B5EF4-FFF2-40B4-BE49-F238E27FC236}">
                <a16:creationId xmlns:a16="http://schemas.microsoft.com/office/drawing/2014/main" id="{D61D7EB7-00DA-959C-2192-620BA7735B37}"/>
              </a:ext>
            </a:extLst>
          </p:cNvPr>
          <p:cNvSpPr>
            <a:spLocks noGrp="1"/>
          </p:cNvSpPr>
          <p:nvPr>
            <p:ph type="body" sz="quarter" idx="15"/>
          </p:nvPr>
        </p:nvSpPr>
        <p:spPr/>
        <p:txBody>
          <a:bodyPr/>
          <a:lstStyle/>
          <a:p>
            <a:endParaRPr lang="en-IN" dirty="0"/>
          </a:p>
        </p:txBody>
      </p:sp>
      <p:sp>
        <p:nvSpPr>
          <p:cNvPr id="5" name="Title 4">
            <a:extLst>
              <a:ext uri="{FF2B5EF4-FFF2-40B4-BE49-F238E27FC236}">
                <a16:creationId xmlns:a16="http://schemas.microsoft.com/office/drawing/2014/main" id="{CCBFED37-FEC7-1ADB-A110-181524454C76}"/>
              </a:ext>
            </a:extLst>
          </p:cNvPr>
          <p:cNvSpPr>
            <a:spLocks noGrp="1"/>
          </p:cNvSpPr>
          <p:nvPr>
            <p:ph type="ctrTitle"/>
          </p:nvPr>
        </p:nvSpPr>
        <p:spPr>
          <a:xfrm>
            <a:off x="3163809" y="908720"/>
            <a:ext cx="5864382" cy="1368152"/>
          </a:xfrm>
        </p:spPr>
        <p:txBody>
          <a:bodyPr/>
          <a:lstStyle/>
          <a:p>
            <a:r>
              <a:rPr lang="en-US" dirty="0"/>
              <a:t>Our solution </a:t>
            </a:r>
            <a:endParaRPr lang="en-IN" dirty="0"/>
          </a:p>
        </p:txBody>
      </p:sp>
      <p:sp>
        <p:nvSpPr>
          <p:cNvPr id="6" name="Subtitle 5">
            <a:extLst>
              <a:ext uri="{FF2B5EF4-FFF2-40B4-BE49-F238E27FC236}">
                <a16:creationId xmlns:a16="http://schemas.microsoft.com/office/drawing/2014/main" id="{DA9EBCD6-2338-72C3-1E21-04B3A6D5B4F3}"/>
              </a:ext>
            </a:extLst>
          </p:cNvPr>
          <p:cNvSpPr>
            <a:spLocks noGrp="1"/>
          </p:cNvSpPr>
          <p:nvPr>
            <p:ph type="subTitle" idx="1"/>
          </p:nvPr>
        </p:nvSpPr>
        <p:spPr>
          <a:xfrm>
            <a:off x="2209818" y="1844824"/>
            <a:ext cx="7344816" cy="3771879"/>
          </a:xfrm>
        </p:spPr>
        <p:txBody>
          <a:bodyPr>
            <a:normAutofit fontScale="92500"/>
          </a:bodyPr>
          <a:lstStyle/>
          <a:p>
            <a:r>
              <a:rPr lang="en-US" b="1" dirty="0"/>
              <a:t>Objective:</a:t>
            </a:r>
            <a:br>
              <a:rPr lang="en-US" dirty="0"/>
            </a:br>
            <a:r>
              <a:rPr lang="en-US" dirty="0"/>
              <a:t>Develop a machine learning-based system to accurately predict traffic flow using historical data, aiding in proactive traffic management.</a:t>
            </a:r>
          </a:p>
          <a:p>
            <a:r>
              <a:rPr lang="en-US" b="1" dirty="0"/>
              <a:t>Approach:</a:t>
            </a:r>
            <a:endParaRPr lang="en-US" dirty="0"/>
          </a:p>
          <a:p>
            <a:pPr>
              <a:buFont typeface="Arial" panose="020B0604020202020204" pitchFamily="34" charset="0"/>
              <a:buChar char="•"/>
            </a:pPr>
            <a:r>
              <a:rPr lang="en-US" b="1" dirty="0"/>
              <a:t>Data Preprocessing:</a:t>
            </a:r>
            <a:r>
              <a:rPr lang="en-US" dirty="0"/>
              <a:t> Clean and normalize data, handle missing values.</a:t>
            </a:r>
          </a:p>
          <a:p>
            <a:pPr>
              <a:buFont typeface="Arial" panose="020B0604020202020204" pitchFamily="34" charset="0"/>
              <a:buChar char="•"/>
            </a:pPr>
            <a:r>
              <a:rPr lang="en-US" b="1" dirty="0"/>
              <a:t>Modeling:</a:t>
            </a:r>
            <a:r>
              <a:rPr lang="en-US" dirty="0"/>
              <a:t> Implement and compare models like Linear Regression and Decision Trees.</a:t>
            </a:r>
          </a:p>
          <a:p>
            <a:pPr>
              <a:buFont typeface="Arial" panose="020B0604020202020204" pitchFamily="34" charset="0"/>
              <a:buChar char="•"/>
            </a:pPr>
            <a:r>
              <a:rPr lang="en-US" b="1" dirty="0"/>
              <a:t>Evaluation:</a:t>
            </a:r>
            <a:r>
              <a:rPr lang="en-US" dirty="0"/>
              <a:t> Use metrics like RMSE and R² to identify the best-performing model.</a:t>
            </a:r>
          </a:p>
          <a:p>
            <a:r>
              <a:rPr lang="en-US" b="1" dirty="0"/>
              <a:t>Outcome:</a:t>
            </a:r>
            <a:br>
              <a:rPr lang="en-US" dirty="0"/>
            </a:br>
            <a:r>
              <a:rPr lang="en-US" dirty="0"/>
              <a:t>An efficient, data-driven prediction system to reduce congestion and enhance urban mobility.</a:t>
            </a:r>
          </a:p>
          <a:p>
            <a:endParaRPr lang="en-IN" dirty="0"/>
          </a:p>
        </p:txBody>
      </p:sp>
    </p:spTree>
    <p:extLst>
      <p:ext uri="{BB962C8B-B14F-4D97-AF65-F5344CB8AC3E}">
        <p14:creationId xmlns:p14="http://schemas.microsoft.com/office/powerpoint/2010/main" val="486379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4A63-E0BB-1B1E-0A37-606188A6AC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D79A6F-5257-844D-969F-C26ED5267774}"/>
              </a:ext>
            </a:extLst>
          </p:cNvPr>
          <p:cNvSpPr>
            <a:spLocks noGrp="1"/>
          </p:cNvSpPr>
          <p:nvPr>
            <p:ph type="body" sz="quarter" idx="13"/>
          </p:nvPr>
        </p:nvSpPr>
        <p:spPr/>
        <p:txBody>
          <a:bodyPr/>
          <a:lstStyle/>
          <a:p>
            <a:endParaRPr lang="en-IN"/>
          </a:p>
        </p:txBody>
      </p:sp>
      <p:sp>
        <p:nvSpPr>
          <p:cNvPr id="3" name="Text Placeholder 2">
            <a:extLst>
              <a:ext uri="{FF2B5EF4-FFF2-40B4-BE49-F238E27FC236}">
                <a16:creationId xmlns:a16="http://schemas.microsoft.com/office/drawing/2014/main" id="{23832AA8-4EF7-2C3B-EC8B-28D96CEFF582}"/>
              </a:ext>
            </a:extLst>
          </p:cNvPr>
          <p:cNvSpPr>
            <a:spLocks noGrp="1"/>
          </p:cNvSpPr>
          <p:nvPr>
            <p:ph type="body" sz="quarter" idx="22"/>
          </p:nvPr>
        </p:nvSpPr>
        <p:spPr/>
        <p:txBody>
          <a:bodyPr>
            <a:normAutofit/>
          </a:bodyPr>
          <a:lstStyle/>
          <a:p>
            <a:endParaRPr lang="en-IN" sz="4000" dirty="0"/>
          </a:p>
        </p:txBody>
      </p:sp>
      <p:sp>
        <p:nvSpPr>
          <p:cNvPr id="4" name="Title 3">
            <a:extLst>
              <a:ext uri="{FF2B5EF4-FFF2-40B4-BE49-F238E27FC236}">
                <a16:creationId xmlns:a16="http://schemas.microsoft.com/office/drawing/2014/main" id="{0BECF7D7-1ACA-A1A0-5395-53CF35EE026A}"/>
              </a:ext>
            </a:extLst>
          </p:cNvPr>
          <p:cNvSpPr>
            <a:spLocks noGrp="1"/>
          </p:cNvSpPr>
          <p:nvPr>
            <p:ph type="title"/>
          </p:nvPr>
        </p:nvSpPr>
        <p:spPr>
          <a:xfrm>
            <a:off x="533400" y="692696"/>
            <a:ext cx="11372850" cy="5898604"/>
          </a:xfrm>
        </p:spPr>
        <p:txBody>
          <a:bodyPr>
            <a:normAutofit fontScale="90000"/>
          </a:bodyPr>
          <a:lstStyle/>
          <a:p>
            <a:r>
              <a:rPr lang="en-US" sz="3600" dirty="0"/>
              <a:t>Advantages of Our Traffic Prediction System.</a:t>
            </a:r>
            <a:br>
              <a:rPr lang="en-US" sz="3600" dirty="0"/>
            </a:br>
            <a:br>
              <a:rPr lang="en-US" sz="2000" dirty="0"/>
            </a:br>
            <a:r>
              <a:rPr lang="en-US" sz="2000" b="1" dirty="0"/>
              <a:t>1. Advanced Data Processing &amp; Scalability:</a:t>
            </a:r>
            <a:br>
              <a:rPr lang="en-US" sz="2000" dirty="0"/>
            </a:br>
            <a:r>
              <a:rPr lang="en-US" sz="2000" dirty="0"/>
              <a:t>Efficiently handles large datasets with cleaning and resampling techniques, ensuring the system scales for diverse traffic patterns, like those in PEMS08.</a:t>
            </a:r>
            <a:br>
              <a:rPr lang="en-US" sz="2000" dirty="0"/>
            </a:br>
            <a:r>
              <a:rPr lang="en-US" sz="2000" b="1" dirty="0"/>
              <a:t>2. Multi-Factor Analysis &amp; Feature Optimization:</a:t>
            </a:r>
            <a:br>
              <a:rPr lang="en-US" sz="2000" dirty="0"/>
            </a:br>
            <a:r>
              <a:rPr lang="en-US" sz="2000" dirty="0"/>
              <a:t>Incorporates multiple factors such as traffic flow, occupancy, and speed to enhance prediction accuracy, while feature engineering captures critical trends like peak congestion periods.</a:t>
            </a:r>
            <a:br>
              <a:rPr lang="en-US" sz="2000" dirty="0"/>
            </a:br>
            <a:r>
              <a:rPr lang="en-US" sz="2000" b="1" dirty="0"/>
              <a:t>3. Robust Machine Learning Models:</a:t>
            </a:r>
            <a:br>
              <a:rPr lang="en-US" sz="2000" dirty="0"/>
            </a:br>
            <a:r>
              <a:rPr lang="en-US" sz="2000" dirty="0"/>
              <a:t>Utilizes advanced algorithms (e.g., LSTM) to deliver reliable, dynamic predictions that adapt to real-world traffic conditions.</a:t>
            </a:r>
            <a:br>
              <a:rPr lang="en-US" sz="2000" dirty="0"/>
            </a:br>
            <a:r>
              <a:rPr lang="en-US" sz="2000" b="1" dirty="0"/>
              <a:t>4. Customizable &amp; Adaptable for Various Scenarios:</a:t>
            </a:r>
            <a:br>
              <a:rPr lang="en-US" sz="2000" dirty="0"/>
            </a:br>
            <a:r>
              <a:rPr lang="en-US" sz="2000" dirty="0"/>
              <a:t>The system can be tailored for different locations and traffic conditions, with flexible models that adapt based on specific data and parameters.</a:t>
            </a:r>
            <a:br>
              <a:rPr lang="en-US" sz="2000" dirty="0"/>
            </a:br>
            <a:br>
              <a:rPr lang="en-US" sz="3600" dirty="0"/>
            </a:br>
            <a:br>
              <a:rPr lang="en-US" sz="3600" dirty="0"/>
            </a:br>
            <a:br>
              <a:rPr lang="en-US" sz="3600" dirty="0"/>
            </a:br>
            <a:br>
              <a:rPr lang="en-US" sz="3600" dirty="0"/>
            </a:br>
            <a:endParaRPr lang="en-IN" sz="2200" dirty="0"/>
          </a:p>
        </p:txBody>
      </p:sp>
      <p:sp>
        <p:nvSpPr>
          <p:cNvPr id="5" name="Text Placeholder 4">
            <a:extLst>
              <a:ext uri="{FF2B5EF4-FFF2-40B4-BE49-F238E27FC236}">
                <a16:creationId xmlns:a16="http://schemas.microsoft.com/office/drawing/2014/main" id="{50F8A8CD-3D07-EF1C-87C4-2CE7AE9D20CD}"/>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1965225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ext Placeholder 2"/>
          <p:cNvSpPr>
            <a:spLocks noGrp="1"/>
          </p:cNvSpPr>
          <p:nvPr>
            <p:ph type="body" sz="quarter" idx="22"/>
          </p:nvPr>
        </p:nvSpPr>
        <p:spPr/>
        <p:txBody>
          <a:bodyPr>
            <a:normAutofit/>
          </a:bodyPr>
          <a:lstStyle/>
          <a:p>
            <a:endParaRPr lang="en-IN" sz="4000" dirty="0"/>
          </a:p>
        </p:txBody>
      </p:sp>
      <p:sp>
        <p:nvSpPr>
          <p:cNvPr id="4" name="Title 3"/>
          <p:cNvSpPr>
            <a:spLocks noGrp="1"/>
          </p:cNvSpPr>
          <p:nvPr>
            <p:ph type="title"/>
          </p:nvPr>
        </p:nvSpPr>
        <p:spPr>
          <a:xfrm>
            <a:off x="533400" y="692696"/>
            <a:ext cx="11372850" cy="5898604"/>
          </a:xfrm>
        </p:spPr>
        <p:txBody>
          <a:bodyPr>
            <a:normAutofit/>
          </a:bodyPr>
          <a:lstStyle/>
          <a:p>
            <a:pPr algn="ctr"/>
            <a:r>
              <a:rPr lang="en-US" sz="4000" dirty="0"/>
              <a:t>DATASET</a:t>
            </a:r>
            <a:br>
              <a:rPr lang="en-US" sz="4000" dirty="0"/>
            </a:br>
            <a:br>
              <a:rPr lang="en-US" sz="2200" dirty="0"/>
            </a:br>
            <a:r>
              <a:rPr lang="en-US" sz="2200" dirty="0"/>
              <a:t>From Caltrans Performance Measurement System (</a:t>
            </a:r>
            <a:r>
              <a:rPr lang="en-US" sz="2200" dirty="0" err="1"/>
              <a:t>PeMS</a:t>
            </a:r>
            <a:r>
              <a:rPr lang="en-US" sz="2200" dirty="0"/>
              <a:t>). traffic data real-time from over 39,000 individual detectors. These sensors span the freeway system across all major metropolitan areas of the State of </a:t>
            </a:r>
            <a:r>
              <a:rPr lang="en-US" sz="2200" dirty="0" err="1"/>
              <a:t>California.PeMS</a:t>
            </a:r>
            <a:r>
              <a:rPr lang="en-US" sz="2200" dirty="0"/>
              <a:t> is also an Archived Data User Service (ADUS) that provides over ten years of data for historical analysis.</a:t>
            </a:r>
            <a:br>
              <a:rPr lang="en-US" sz="4000" dirty="0"/>
            </a:br>
            <a:br>
              <a:rPr lang="en-US" sz="2200" dirty="0"/>
            </a:br>
            <a:r>
              <a:rPr lang="en-US" sz="2200" dirty="0" err="1"/>
              <a:t>source:https</a:t>
            </a:r>
            <a:r>
              <a:rPr lang="en-US" sz="2200" dirty="0"/>
              <a:t>://pems.dot.ca.gov/ </a:t>
            </a:r>
            <a:endParaRPr lang="en-IN" sz="2200" dirty="0"/>
          </a:p>
        </p:txBody>
      </p:sp>
      <p:sp>
        <p:nvSpPr>
          <p:cNvPr id="5" name="Text Placeholder 4"/>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3190143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02B9606-F9BC-40CD-9467-6348ACE4102C}"/>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A682397A-D234-4487-8E63-23B79C769633}"/>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3" name="Title 12">
            <a:extLst>
              <a:ext uri="{FF2B5EF4-FFF2-40B4-BE49-F238E27FC236}">
                <a16:creationId xmlns:a16="http://schemas.microsoft.com/office/drawing/2014/main" id="{D7199992-58FE-4335-A811-6AFA96B5595D}"/>
              </a:ext>
            </a:extLst>
          </p:cNvPr>
          <p:cNvSpPr>
            <a:spLocks noGrp="1"/>
          </p:cNvSpPr>
          <p:nvPr>
            <p:ph type="title"/>
          </p:nvPr>
        </p:nvSpPr>
        <p:spPr>
          <a:xfrm>
            <a:off x="319691" y="223488"/>
            <a:ext cx="10763250" cy="6144323"/>
          </a:xfrm>
        </p:spPr>
        <p:txBody>
          <a:bodyPr>
            <a:noAutofit/>
          </a:bodyPr>
          <a:lstStyle/>
          <a:p>
            <a:pPr algn="ctr"/>
            <a:r>
              <a:rPr lang="en-US" sz="4000" dirty="0"/>
              <a:t>DATASET:  </a:t>
            </a:r>
            <a:br>
              <a:rPr lang="en-US" sz="3200" dirty="0"/>
            </a:br>
            <a:r>
              <a:rPr lang="en-US" sz="2200" dirty="0"/>
              <a:t> PEMS 08 Contains the traffic data in San Bernardino from July to</a:t>
            </a:r>
            <a:br>
              <a:rPr lang="en-US" sz="2200" dirty="0"/>
            </a:br>
            <a:r>
              <a:rPr lang="en-US" sz="2200" dirty="0"/>
              <a:t>August in 2016. There are 170 locations with detectors recording </a:t>
            </a:r>
            <a:br>
              <a:rPr lang="en-US" sz="2200" dirty="0"/>
            </a:br>
            <a:r>
              <a:rPr lang="en-US" sz="2200" dirty="0"/>
              <a:t>every 5 minute intervals of traffic information. </a:t>
            </a:r>
            <a:br>
              <a:rPr lang="en-US" sz="2200" dirty="0"/>
            </a:br>
            <a:r>
              <a:rPr lang="en-US" sz="2200" dirty="0"/>
              <a:t>The dataset includes 3 features: flow, occupy, speed. </a:t>
            </a:r>
            <a:br>
              <a:rPr lang="en-US" sz="2200" dirty="0"/>
            </a:br>
            <a:br>
              <a:rPr lang="en-US" sz="2200" dirty="0"/>
            </a:br>
            <a:r>
              <a:rPr lang="en-US" sz="2200" dirty="0"/>
              <a:t>The flow variable in the PEMS08 dataset represents the number of vehicles that pass through the loop detector per time interval </a:t>
            </a:r>
            <a:r>
              <a:rPr lang="en-US" sz="2200" dirty="0">
                <a:solidFill>
                  <a:srgbClr val="92D050"/>
                </a:solidFill>
              </a:rPr>
              <a:t>(5 minutes in this case</a:t>
            </a:r>
            <a:r>
              <a:rPr lang="en-US" sz="2200" dirty="0"/>
              <a:t>). It is measured in</a:t>
            </a:r>
            <a:r>
              <a:rPr lang="en-US" sz="2200" dirty="0">
                <a:solidFill>
                  <a:srgbClr val="002060"/>
                </a:solidFill>
              </a:rPr>
              <a:t> </a:t>
            </a:r>
            <a:r>
              <a:rPr lang="en-US" sz="2200" dirty="0"/>
              <a:t>vehicles per 5-minute interval.</a:t>
            </a:r>
            <a:br>
              <a:rPr lang="en-US" sz="2200" dirty="0"/>
            </a:br>
            <a:r>
              <a:rPr lang="en-US" sz="2200" dirty="0"/>
              <a:t>   </a:t>
            </a:r>
            <a:br>
              <a:rPr lang="en-US" sz="2200" dirty="0"/>
            </a:br>
            <a:r>
              <a:rPr lang="en-US" sz="2200" dirty="0"/>
              <a:t> The occupancy variable represents the proportion of time during the time interval (5 minutes) that the detector was occupied by a vehicle. It is measured as a percentage. </a:t>
            </a:r>
            <a:br>
              <a:rPr lang="en-US" sz="2200" dirty="0"/>
            </a:br>
            <a:r>
              <a:rPr lang="en-US" sz="2200" dirty="0"/>
              <a:t>  </a:t>
            </a:r>
            <a:br>
              <a:rPr lang="en-US" sz="2200" dirty="0"/>
            </a:br>
            <a:r>
              <a:rPr lang="en-US" sz="2200" dirty="0"/>
              <a:t> The speed variable represents the average speed of the vehicles passing through the loop detector during the time interval (5 minutes). It is measured in miles per hour (mph).</a:t>
            </a:r>
            <a:br>
              <a:rPr lang="en-US" sz="2200" dirty="0"/>
            </a:br>
            <a:br>
              <a:rPr lang="en-US" sz="2200" dirty="0"/>
            </a:br>
            <a:r>
              <a:rPr lang="en-US" sz="2200" dirty="0"/>
              <a:t>Source : </a:t>
            </a:r>
            <a:r>
              <a:rPr lang="en-US" sz="2200" dirty="0">
                <a:hlinkClick r:id="rId3"/>
              </a:rPr>
              <a:t>https://pems.dot.ca.gov/</a:t>
            </a:r>
            <a:r>
              <a:rPr lang="en-US" sz="2200" dirty="0"/>
              <a:t>, </a:t>
            </a:r>
            <a:br>
              <a:rPr lang="en-US" sz="2200" dirty="0"/>
            </a:br>
            <a:r>
              <a:rPr lang="en-US" sz="2200" dirty="0"/>
              <a:t>              Ben-Ao Dai, Bao-Lin Ye, </a:t>
            </a:r>
            <a:r>
              <a:rPr lang="en-US" sz="2200" dirty="0" err="1"/>
              <a:t>Lingxi</a:t>
            </a:r>
            <a:r>
              <a:rPr lang="en-US" sz="2200" dirty="0"/>
              <a:t> Li - A novel hybrid time-varying graph neural network for                      traffic flow forecasting</a:t>
            </a:r>
          </a:p>
        </p:txBody>
      </p:sp>
    </p:spTree>
    <p:extLst>
      <p:ext uri="{BB962C8B-B14F-4D97-AF65-F5344CB8AC3E}">
        <p14:creationId xmlns:p14="http://schemas.microsoft.com/office/powerpoint/2010/main" val="306905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ext Placeholder 2"/>
          <p:cNvSpPr>
            <a:spLocks noGrp="1"/>
          </p:cNvSpPr>
          <p:nvPr>
            <p:ph type="body" sz="quarter" idx="22"/>
          </p:nvPr>
        </p:nvSpPr>
        <p:spPr/>
        <p:txBody>
          <a:bodyPr/>
          <a:lstStyle/>
          <a:p>
            <a:endParaRPr lang="en-IN" dirty="0"/>
          </a:p>
        </p:txBody>
      </p:sp>
      <p:sp>
        <p:nvSpPr>
          <p:cNvPr id="4" name="Title 3"/>
          <p:cNvSpPr>
            <a:spLocks noGrp="1"/>
          </p:cNvSpPr>
          <p:nvPr>
            <p:ph type="title"/>
          </p:nvPr>
        </p:nvSpPr>
        <p:spPr/>
        <p:txBody>
          <a:bodyPr>
            <a:noAutofit/>
          </a:bodyPr>
          <a:lstStyle/>
          <a:p>
            <a:pPr algn="ctr"/>
            <a:r>
              <a:rPr lang="en-US" sz="4000" dirty="0"/>
              <a:t>PROCESSING:</a:t>
            </a:r>
            <a:br>
              <a:rPr lang="en-US" sz="4000" dirty="0"/>
            </a:br>
            <a:br>
              <a:rPr lang="en-US" sz="4000" dirty="0"/>
            </a:br>
            <a:r>
              <a:rPr lang="en-US" sz="2200" dirty="0"/>
              <a:t>A NumPy archive (NPZ) file containing arrays was downloaded and subsequently converted into a CSV file named </a:t>
            </a:r>
            <a:r>
              <a:rPr lang="en-US" sz="2200" b="1" dirty="0"/>
              <a:t>traffic.csv</a:t>
            </a:r>
            <a:r>
              <a:rPr lang="en-US" sz="2200" dirty="0"/>
              <a:t>. This file provides time series data recorded at 5-minute intervals for 170 locations.</a:t>
            </a:r>
            <a:br>
              <a:rPr lang="en-US" sz="2200" dirty="0"/>
            </a:br>
            <a:br>
              <a:rPr lang="en-US" sz="2200" dirty="0"/>
            </a:br>
            <a:r>
              <a:rPr lang="en-US" sz="2200" dirty="0"/>
              <a:t>We have then converted this data into 2hr intervals, taking the average of 24 timesteps, as the dataset was very large.</a:t>
            </a:r>
            <a:endParaRPr lang="en-IN" sz="2200" dirty="0"/>
          </a:p>
        </p:txBody>
      </p:sp>
      <p:sp>
        <p:nvSpPr>
          <p:cNvPr id="5" name="Text Placeholder 4"/>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1399231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978769-B519-D397-33A2-D194DFC62D89}"/>
              </a:ext>
            </a:extLst>
          </p:cNvPr>
          <p:cNvSpPr>
            <a:spLocks noGrp="1"/>
          </p:cNvSpPr>
          <p:nvPr>
            <p:ph type="body" sz="quarter" idx="13"/>
          </p:nvPr>
        </p:nvSpPr>
        <p:spPr/>
        <p:txBody>
          <a:bodyPr/>
          <a:lstStyle/>
          <a:p>
            <a:endParaRPr lang="en-IN"/>
          </a:p>
        </p:txBody>
      </p:sp>
      <p:sp>
        <p:nvSpPr>
          <p:cNvPr id="3" name="Text Placeholder 2">
            <a:extLst>
              <a:ext uri="{FF2B5EF4-FFF2-40B4-BE49-F238E27FC236}">
                <a16:creationId xmlns:a16="http://schemas.microsoft.com/office/drawing/2014/main" id="{F6C2F6E4-6274-2BFE-CFD0-BBF1F8EFED1D}"/>
              </a:ext>
            </a:extLst>
          </p:cNvPr>
          <p:cNvSpPr>
            <a:spLocks noGrp="1"/>
          </p:cNvSpPr>
          <p:nvPr>
            <p:ph type="body" sz="quarter" idx="22"/>
          </p:nvPr>
        </p:nvSpPr>
        <p:spPr/>
        <p:txBody>
          <a:bodyPr/>
          <a:lstStyle/>
          <a:p>
            <a:endParaRPr lang="en-IN" dirty="0"/>
          </a:p>
        </p:txBody>
      </p:sp>
      <p:sp>
        <p:nvSpPr>
          <p:cNvPr id="4" name="Title 3">
            <a:extLst>
              <a:ext uri="{FF2B5EF4-FFF2-40B4-BE49-F238E27FC236}">
                <a16:creationId xmlns:a16="http://schemas.microsoft.com/office/drawing/2014/main" id="{4F0E8E76-2A2F-7D85-95BA-32A59EBFDD78}"/>
              </a:ext>
            </a:extLst>
          </p:cNvPr>
          <p:cNvSpPr>
            <a:spLocks noGrp="1"/>
          </p:cNvSpPr>
          <p:nvPr>
            <p:ph type="title"/>
          </p:nvPr>
        </p:nvSpPr>
        <p:spPr>
          <a:xfrm>
            <a:off x="1085850" y="116632"/>
            <a:ext cx="9963150" cy="5832648"/>
          </a:xfrm>
        </p:spPr>
        <p:txBody>
          <a:bodyPr>
            <a:normAutofit fontScale="90000"/>
          </a:bodyPr>
          <a:lstStyle/>
          <a:p>
            <a:pPr algn="ctr"/>
            <a:br>
              <a:rPr lang="en-US" sz="4400" dirty="0"/>
            </a:br>
            <a:r>
              <a:rPr lang="en-US" sz="4400" dirty="0"/>
              <a:t>LSTM Model for Traffic Prediction </a:t>
            </a:r>
            <a:br>
              <a:rPr lang="en-US" sz="2400" dirty="0"/>
            </a:br>
            <a:r>
              <a:rPr lang="en-US" sz="2400" dirty="0"/>
              <a:t> </a:t>
            </a:r>
            <a:br>
              <a:rPr lang="en-US" sz="4400" dirty="0"/>
            </a:br>
            <a:r>
              <a:rPr lang="en-US" sz="4400" b="1" dirty="0"/>
              <a:t> </a:t>
            </a:r>
            <a:r>
              <a:rPr lang="en-US" sz="2200" b="1" dirty="0"/>
              <a:t>Data Preprocessing:</a:t>
            </a:r>
            <a:br>
              <a:rPr lang="en-US" sz="2400" dirty="0"/>
            </a:br>
            <a:r>
              <a:rPr lang="en-US" sz="2400" dirty="0"/>
              <a:t> The dataset contains traffic flow, occupancy, and speed features. Features are scaled using </a:t>
            </a:r>
            <a:r>
              <a:rPr lang="en-US" sz="2400" dirty="0" err="1"/>
              <a:t>MinMaxScaler</a:t>
            </a:r>
            <a:r>
              <a:rPr lang="en-US" sz="2400" dirty="0"/>
              <a:t>. Data is sorted by location and 2-hour time intervals.    </a:t>
            </a:r>
            <a:br>
              <a:rPr lang="en-US" sz="2400" dirty="0"/>
            </a:br>
            <a:br>
              <a:rPr lang="en-US" sz="2400" dirty="0"/>
            </a:br>
            <a:r>
              <a:rPr lang="en-US" sz="2400" b="1" dirty="0"/>
              <a:t>Sequence Creation:</a:t>
            </a:r>
            <a:br>
              <a:rPr lang="en-US" sz="2400" b="1" dirty="0"/>
            </a:br>
            <a:r>
              <a:rPr lang="en-US" sz="2400" b="1" dirty="0"/>
              <a:t> </a:t>
            </a:r>
            <a:r>
              <a:rPr lang="en-US" sz="2400" dirty="0"/>
              <a:t>24 timesteps (2-hour intervals) are used to predict the traffic flow at the next timestep.   </a:t>
            </a:r>
            <a:br>
              <a:rPr lang="en-US" sz="2400" dirty="0"/>
            </a:br>
            <a:br>
              <a:rPr lang="en-US" sz="2400" dirty="0"/>
            </a:br>
            <a:r>
              <a:rPr lang="en-US" sz="2400" b="1" dirty="0"/>
              <a:t>Model Architecture:  </a:t>
            </a:r>
            <a:br>
              <a:rPr lang="en-US" sz="2400" b="1" dirty="0"/>
            </a:br>
            <a:r>
              <a:rPr lang="en-US" sz="2400" dirty="0"/>
              <a:t>A Sequential model with an LSTM layer (64 units) to capture temporal patterns. A Dense output layer to predict the next flow value.</a:t>
            </a:r>
            <a:br>
              <a:rPr lang="en-US" dirty="0"/>
            </a:br>
            <a:endParaRPr lang="en-IN" dirty="0"/>
          </a:p>
        </p:txBody>
      </p:sp>
      <p:sp>
        <p:nvSpPr>
          <p:cNvPr id="5" name="Text Placeholder 4">
            <a:extLst>
              <a:ext uri="{FF2B5EF4-FFF2-40B4-BE49-F238E27FC236}">
                <a16:creationId xmlns:a16="http://schemas.microsoft.com/office/drawing/2014/main" id="{9730A2AC-DF36-FD2D-9DB5-C9B63A7FBCE9}"/>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413900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454C08-0B2E-F309-B434-609D93C9D32F}"/>
              </a:ext>
            </a:extLst>
          </p:cNvPr>
          <p:cNvSpPr>
            <a:spLocks noGrp="1"/>
          </p:cNvSpPr>
          <p:nvPr>
            <p:ph type="body" sz="quarter" idx="13"/>
          </p:nvPr>
        </p:nvSpPr>
        <p:spPr/>
        <p:txBody>
          <a:bodyPr/>
          <a:lstStyle/>
          <a:p>
            <a:endParaRPr lang="en-IN"/>
          </a:p>
        </p:txBody>
      </p:sp>
      <p:sp>
        <p:nvSpPr>
          <p:cNvPr id="3" name="Text Placeholder 2">
            <a:extLst>
              <a:ext uri="{FF2B5EF4-FFF2-40B4-BE49-F238E27FC236}">
                <a16:creationId xmlns:a16="http://schemas.microsoft.com/office/drawing/2014/main" id="{273EEB04-C9EF-E07E-BDDF-774244DEEEBC}"/>
              </a:ext>
            </a:extLst>
          </p:cNvPr>
          <p:cNvSpPr>
            <a:spLocks noGrp="1"/>
          </p:cNvSpPr>
          <p:nvPr>
            <p:ph type="body" sz="quarter" idx="22"/>
          </p:nvPr>
        </p:nvSpPr>
        <p:spPr/>
        <p:txBody>
          <a:bodyPr/>
          <a:lstStyle/>
          <a:p>
            <a:endParaRPr lang="en-IN" dirty="0"/>
          </a:p>
        </p:txBody>
      </p:sp>
      <p:sp>
        <p:nvSpPr>
          <p:cNvPr id="4" name="Title 3">
            <a:extLst>
              <a:ext uri="{FF2B5EF4-FFF2-40B4-BE49-F238E27FC236}">
                <a16:creationId xmlns:a16="http://schemas.microsoft.com/office/drawing/2014/main" id="{49A17758-1EA6-6A49-9E29-EBC28A3DC38E}"/>
              </a:ext>
            </a:extLst>
          </p:cNvPr>
          <p:cNvSpPr>
            <a:spLocks noGrp="1"/>
          </p:cNvSpPr>
          <p:nvPr>
            <p:ph type="title"/>
          </p:nvPr>
        </p:nvSpPr>
        <p:spPr/>
        <p:txBody>
          <a:bodyPr>
            <a:noAutofit/>
          </a:bodyPr>
          <a:lstStyle/>
          <a:p>
            <a:pPr algn="ctr"/>
            <a:r>
              <a:rPr lang="en-US" sz="2200" b="1" dirty="0"/>
              <a:t>Training:  </a:t>
            </a:r>
            <a:br>
              <a:rPr lang="en-US" sz="2200" dirty="0"/>
            </a:br>
            <a:r>
              <a:rPr lang="en-US" sz="2200" dirty="0"/>
              <a:t>Train-test split: 80% for training, 20% for testing., Loss: Mean Absolute Error (MAE). Trained for 20 epochs with a batch size of 32.  </a:t>
            </a:r>
            <a:br>
              <a:rPr lang="en-US" sz="2200" dirty="0"/>
            </a:br>
            <a:r>
              <a:rPr lang="en-US" sz="2200" dirty="0"/>
              <a:t> </a:t>
            </a:r>
            <a:br>
              <a:rPr lang="en-US" sz="2200" dirty="0"/>
            </a:br>
            <a:r>
              <a:rPr lang="en-US" sz="2200" b="1" dirty="0"/>
              <a:t>Results: </a:t>
            </a:r>
            <a:br>
              <a:rPr lang="en-US" sz="2200" dirty="0"/>
            </a:br>
            <a:r>
              <a:rPr lang="en-US" sz="2200" dirty="0"/>
              <a:t>The model is evaluated using MAE on the test set, and predictions are made for future flow values</a:t>
            </a:r>
            <a:endParaRPr lang="en-IN" sz="2200" dirty="0"/>
          </a:p>
        </p:txBody>
      </p:sp>
      <p:sp>
        <p:nvSpPr>
          <p:cNvPr id="5" name="Text Placeholder 4">
            <a:extLst>
              <a:ext uri="{FF2B5EF4-FFF2-40B4-BE49-F238E27FC236}">
                <a16:creationId xmlns:a16="http://schemas.microsoft.com/office/drawing/2014/main" id="{E36C0A06-5963-97DA-59C0-3926813C1E97}"/>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706466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140D-A07D-C356-61F0-2F06BAE6A0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FF78C5-70DA-6806-6386-C93E655E7DD2}"/>
              </a:ext>
            </a:extLst>
          </p:cNvPr>
          <p:cNvSpPr>
            <a:spLocks noGrp="1"/>
          </p:cNvSpPr>
          <p:nvPr>
            <p:ph type="body" sz="quarter" idx="13"/>
          </p:nvPr>
        </p:nvSpPr>
        <p:spPr/>
        <p:txBody>
          <a:bodyPr/>
          <a:lstStyle/>
          <a:p>
            <a:endParaRPr lang="en-IN"/>
          </a:p>
        </p:txBody>
      </p:sp>
      <p:sp>
        <p:nvSpPr>
          <p:cNvPr id="3" name="Text Placeholder 2">
            <a:extLst>
              <a:ext uri="{FF2B5EF4-FFF2-40B4-BE49-F238E27FC236}">
                <a16:creationId xmlns:a16="http://schemas.microsoft.com/office/drawing/2014/main" id="{0CA42B83-392D-1AB0-9B37-3A7A15D4828A}"/>
              </a:ext>
            </a:extLst>
          </p:cNvPr>
          <p:cNvSpPr>
            <a:spLocks noGrp="1"/>
          </p:cNvSpPr>
          <p:nvPr>
            <p:ph type="body" sz="quarter" idx="22"/>
          </p:nvPr>
        </p:nvSpPr>
        <p:spPr/>
        <p:txBody>
          <a:bodyPr/>
          <a:lstStyle/>
          <a:p>
            <a:endParaRPr lang="en-IN" dirty="0"/>
          </a:p>
        </p:txBody>
      </p:sp>
      <p:sp>
        <p:nvSpPr>
          <p:cNvPr id="4" name="Title 3">
            <a:extLst>
              <a:ext uri="{FF2B5EF4-FFF2-40B4-BE49-F238E27FC236}">
                <a16:creationId xmlns:a16="http://schemas.microsoft.com/office/drawing/2014/main" id="{9D0FB861-6672-E55B-C9BA-BBE877882208}"/>
              </a:ext>
            </a:extLst>
          </p:cNvPr>
          <p:cNvSpPr>
            <a:spLocks noGrp="1"/>
          </p:cNvSpPr>
          <p:nvPr>
            <p:ph type="title"/>
          </p:nvPr>
        </p:nvSpPr>
        <p:spPr/>
        <p:txBody>
          <a:bodyPr>
            <a:noAutofit/>
          </a:bodyPr>
          <a:lstStyle/>
          <a:p>
            <a:pPr lvl="0" eaLnBrk="0" fontAlgn="base" hangingPunct="0">
              <a:lnSpc>
                <a:spcPct val="100000"/>
              </a:lnSpc>
              <a:spcAft>
                <a:spcPct val="0"/>
              </a:spcAft>
            </a:pPr>
            <a:br>
              <a:rPr lang="en-US" sz="2000" dirty="0"/>
            </a:br>
            <a:r>
              <a:rPr lang="en-US" sz="2000" dirty="0"/>
              <a:t>Machine learning model for the following :</a:t>
            </a:r>
            <a:br>
              <a:rPr lang="en-US" sz="1800" dirty="0"/>
            </a:br>
            <a:br>
              <a:rPr lang="en-US" sz="1800" dirty="0"/>
            </a:br>
            <a:br>
              <a:rPr lang="en-US" altLang="en-US" sz="1800" dirty="0">
                <a:solidFill>
                  <a:schemeClr val="tx1"/>
                </a:solidFill>
                <a:latin typeface="Arial" panose="020B0604020202020204" pitchFamily="34" charset="0"/>
              </a:rPr>
            </a:br>
            <a:r>
              <a:rPr lang="en-US" altLang="en-US" sz="1600" b="1" dirty="0">
                <a:solidFill>
                  <a:schemeClr val="tx1"/>
                </a:solidFill>
                <a:latin typeface="Arial" panose="020B0604020202020204" pitchFamily="34" charset="0"/>
              </a:rPr>
              <a:t>Filter and Sort Data</a:t>
            </a:r>
            <a:br>
              <a:rPr lang="en-US" altLang="en-US" sz="1600" dirty="0">
                <a:solidFill>
                  <a:schemeClr val="tx1"/>
                </a:solidFill>
                <a:latin typeface="Arial" panose="020B0604020202020204" pitchFamily="34" charset="0"/>
              </a:rPr>
            </a:br>
            <a:r>
              <a:rPr lang="en-US" altLang="en-US" sz="1600" dirty="0">
                <a:latin typeface="Arial" panose="020B0604020202020204" pitchFamily="34" charset="0"/>
              </a:rPr>
              <a:t>Select data for the specified location and sort by datetime.</a:t>
            </a:r>
            <a:br>
              <a:rPr lang="en-US" altLang="en-US" sz="1600" dirty="0">
                <a:latin typeface="Arial" panose="020B0604020202020204" pitchFamily="34" charset="0"/>
              </a:rPr>
            </a:br>
            <a:r>
              <a:rPr lang="en-US" altLang="en-US" sz="1600" b="1" dirty="0">
                <a:solidFill>
                  <a:schemeClr val="tx1"/>
                </a:solidFill>
                <a:latin typeface="Arial" panose="020B0604020202020204" pitchFamily="34" charset="0"/>
              </a:rPr>
              <a:t>Prepare Data Sequences</a:t>
            </a:r>
            <a:br>
              <a:rPr lang="en-US" altLang="en-US" sz="1600" dirty="0">
                <a:solidFill>
                  <a:schemeClr val="tx1"/>
                </a:solidFill>
                <a:latin typeface="Arial" panose="020B0604020202020204" pitchFamily="34" charset="0"/>
              </a:rPr>
            </a:br>
            <a:r>
              <a:rPr lang="en-US" altLang="en-US" sz="1600" dirty="0">
                <a:latin typeface="Arial" panose="020B0604020202020204" pitchFamily="34" charset="0"/>
              </a:rPr>
              <a:t>Create input sequences (features like </a:t>
            </a:r>
            <a:r>
              <a:rPr lang="en-US" altLang="en-US" sz="1600" dirty="0">
                <a:latin typeface="Arial Unicode MS"/>
              </a:rPr>
              <a:t>flow</a:t>
            </a:r>
            <a:r>
              <a:rPr lang="en-US" altLang="en-US" sz="1600" dirty="0"/>
              <a:t>, </a:t>
            </a:r>
            <a:r>
              <a:rPr lang="en-US" altLang="en-US" sz="1600" dirty="0">
                <a:latin typeface="Arial Unicode MS"/>
              </a:rPr>
              <a:t>occupy</a:t>
            </a:r>
            <a:r>
              <a:rPr lang="en-US" altLang="en-US" sz="1600" dirty="0"/>
              <a:t>, </a:t>
            </a:r>
            <a:r>
              <a:rPr lang="en-US" altLang="en-US" sz="1600" dirty="0">
                <a:latin typeface="Arial Unicode MS"/>
              </a:rPr>
              <a:t>speed</a:t>
            </a:r>
            <a:r>
              <a:rPr lang="en-US" altLang="en-US" sz="1600" dirty="0"/>
              <a:t>) and output values (</a:t>
            </a:r>
            <a:r>
              <a:rPr lang="en-US" altLang="en-US" sz="1600" dirty="0">
                <a:latin typeface="Arial Unicode MS"/>
              </a:rPr>
              <a:t>flow</a:t>
            </a:r>
            <a:r>
              <a:rPr lang="en-US" altLang="en-US" sz="1600" dirty="0"/>
              <a:t>) for prediction.</a:t>
            </a:r>
            <a:br>
              <a:rPr lang="en-US" altLang="en-US" sz="1600" dirty="0">
                <a:latin typeface="Arial" panose="020B0604020202020204" pitchFamily="34" charset="0"/>
              </a:rPr>
            </a:br>
            <a:r>
              <a:rPr lang="en-US" altLang="en-US" sz="1600" b="1" dirty="0">
                <a:solidFill>
                  <a:schemeClr val="tx1"/>
                </a:solidFill>
                <a:latin typeface="Arial" panose="020B0604020202020204" pitchFamily="34" charset="0"/>
              </a:rPr>
              <a:t>Make Predictions with LSTM Model</a:t>
            </a:r>
            <a:br>
              <a:rPr lang="en-US" altLang="en-US" sz="1600" dirty="0">
                <a:solidFill>
                  <a:schemeClr val="tx1"/>
                </a:solidFill>
                <a:latin typeface="Arial" panose="020B0604020202020204" pitchFamily="34" charset="0"/>
              </a:rPr>
            </a:br>
            <a:r>
              <a:rPr lang="en-US" altLang="en-US" sz="1600" dirty="0">
                <a:latin typeface="Arial" panose="020B0604020202020204" pitchFamily="34" charset="0"/>
              </a:rPr>
              <a:t>Use the trained LSTM model to predict traffic flow based on the input sequences.</a:t>
            </a:r>
            <a:br>
              <a:rPr lang="en-US" altLang="en-US" sz="1600" dirty="0">
                <a:latin typeface="Arial" panose="020B0604020202020204" pitchFamily="34" charset="0"/>
              </a:rPr>
            </a:br>
            <a:r>
              <a:rPr lang="en-US" altLang="en-US" sz="1600" b="1" dirty="0">
                <a:solidFill>
                  <a:schemeClr val="tx1"/>
                </a:solidFill>
                <a:latin typeface="Arial" panose="020B0604020202020204" pitchFamily="34" charset="0"/>
              </a:rPr>
              <a:t>Rescale Data</a:t>
            </a:r>
            <a:br>
              <a:rPr lang="en-US" altLang="en-US" sz="1600" dirty="0">
                <a:solidFill>
                  <a:schemeClr val="tx1"/>
                </a:solidFill>
                <a:latin typeface="Arial" panose="020B0604020202020204" pitchFamily="34" charset="0"/>
              </a:rPr>
            </a:br>
            <a:r>
              <a:rPr lang="en-US" altLang="en-US" sz="1600" dirty="0">
                <a:latin typeface="Arial" panose="020B0604020202020204" pitchFamily="34" charset="0"/>
              </a:rPr>
              <a:t>Rescale both predicted and actual traffic flow values back to the original scale.</a:t>
            </a:r>
            <a:br>
              <a:rPr lang="en-US" altLang="en-US" sz="1600" dirty="0">
                <a:latin typeface="Arial" panose="020B0604020202020204" pitchFamily="34" charset="0"/>
              </a:rPr>
            </a:br>
            <a:r>
              <a:rPr lang="en-US" altLang="en-US" sz="1600" b="1" dirty="0">
                <a:solidFill>
                  <a:schemeClr val="tx1"/>
                </a:solidFill>
                <a:latin typeface="Arial" panose="020B0604020202020204" pitchFamily="34" charset="0"/>
              </a:rPr>
              <a:t>Plot Results</a:t>
            </a:r>
            <a:br>
              <a:rPr lang="en-US" altLang="en-US" sz="1600" dirty="0">
                <a:solidFill>
                  <a:schemeClr val="tx1"/>
                </a:solidFill>
                <a:latin typeface="Arial" panose="020B0604020202020204" pitchFamily="34" charset="0"/>
              </a:rPr>
            </a:br>
            <a:r>
              <a:rPr lang="en-US" altLang="en-US" sz="1600" dirty="0">
                <a:latin typeface="Arial" panose="020B0604020202020204" pitchFamily="34" charset="0"/>
              </a:rPr>
              <a:t>Visualize the actual vs predicted traffic flow over time with properly formatted dates.</a:t>
            </a:r>
            <a:br>
              <a:rPr lang="en-US" altLang="en-US" sz="1600" dirty="0">
                <a:latin typeface="Arial" panose="020B0604020202020204" pitchFamily="34" charset="0"/>
              </a:rPr>
            </a:br>
            <a:br>
              <a:rPr lang="en-US" altLang="en-US" sz="1600" dirty="0">
                <a:solidFill>
                  <a:schemeClr val="tx1"/>
                </a:solidFill>
                <a:latin typeface="Arial" panose="020B0604020202020204" pitchFamily="34" charset="0"/>
              </a:rPr>
            </a:br>
            <a:endParaRPr lang="en-IN" sz="1600" dirty="0"/>
          </a:p>
        </p:txBody>
      </p:sp>
      <p:sp>
        <p:nvSpPr>
          <p:cNvPr id="5" name="Text Placeholder 4">
            <a:extLst>
              <a:ext uri="{FF2B5EF4-FFF2-40B4-BE49-F238E27FC236}">
                <a16:creationId xmlns:a16="http://schemas.microsoft.com/office/drawing/2014/main" id="{06F47833-E57A-79E7-CBEE-4A86686E853D}"/>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3808066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107256-F0B7-0241-CD51-4C814F0DF70A}"/>
              </a:ext>
            </a:extLst>
          </p:cNvPr>
          <p:cNvSpPr>
            <a:spLocks noGrp="1"/>
          </p:cNvSpPr>
          <p:nvPr>
            <p:ph type="body" sz="quarter" idx="13"/>
          </p:nvPr>
        </p:nvSpPr>
        <p:spPr/>
        <p:txBody>
          <a:bodyPr/>
          <a:lstStyle/>
          <a:p>
            <a:endParaRPr lang="en-IN"/>
          </a:p>
        </p:txBody>
      </p:sp>
      <p:sp>
        <p:nvSpPr>
          <p:cNvPr id="3" name="Text Placeholder 2">
            <a:extLst>
              <a:ext uri="{FF2B5EF4-FFF2-40B4-BE49-F238E27FC236}">
                <a16:creationId xmlns:a16="http://schemas.microsoft.com/office/drawing/2014/main" id="{EC7F6F21-61A9-875E-05A5-5DFA5D1066A4}"/>
              </a:ext>
            </a:extLst>
          </p:cNvPr>
          <p:cNvSpPr>
            <a:spLocks noGrp="1"/>
          </p:cNvSpPr>
          <p:nvPr>
            <p:ph type="body" sz="quarter" idx="22"/>
          </p:nvPr>
        </p:nvSpPr>
        <p:spPr/>
        <p:txBody>
          <a:bodyPr/>
          <a:lstStyle/>
          <a:p>
            <a:endParaRPr lang="en-IN" dirty="0"/>
          </a:p>
        </p:txBody>
      </p:sp>
      <p:sp>
        <p:nvSpPr>
          <p:cNvPr id="4" name="Title 3">
            <a:extLst>
              <a:ext uri="{FF2B5EF4-FFF2-40B4-BE49-F238E27FC236}">
                <a16:creationId xmlns:a16="http://schemas.microsoft.com/office/drawing/2014/main" id="{9D90351C-F474-7A89-0919-E162F1149080}"/>
              </a:ext>
            </a:extLst>
          </p:cNvPr>
          <p:cNvSpPr>
            <a:spLocks noGrp="1"/>
          </p:cNvSpPr>
          <p:nvPr>
            <p:ph type="title"/>
          </p:nvPr>
        </p:nvSpPr>
        <p:spPr/>
        <p:txBody>
          <a:bodyPr>
            <a:normAutofit/>
          </a:bodyPr>
          <a:lstStyle/>
          <a:p>
            <a:pPr algn="ctr"/>
            <a:r>
              <a:rPr lang="en-US" sz="9600" dirty="0"/>
              <a:t>Thank you</a:t>
            </a:r>
            <a:endParaRPr lang="en-IN" sz="9600" dirty="0"/>
          </a:p>
        </p:txBody>
      </p:sp>
      <p:sp>
        <p:nvSpPr>
          <p:cNvPr id="5" name="Text Placeholder 4">
            <a:extLst>
              <a:ext uri="{FF2B5EF4-FFF2-40B4-BE49-F238E27FC236}">
                <a16:creationId xmlns:a16="http://schemas.microsoft.com/office/drawing/2014/main" id="{3D8101FD-2A9F-3D07-1603-A8E6A99998F5}"/>
              </a:ext>
            </a:extLst>
          </p:cNvPr>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20751235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86D9CC-0D9D-4BFE-B3F3-26F480BF8C8A}">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16c05727-aa75-4e4a-9b5f-8a80a1165891"/>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06BD98-E608-40A1-98A8-93D5976215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classic block presentation</Template>
  <TotalTime>0</TotalTime>
  <Words>1094</Words>
  <Application>Microsoft Office PowerPoint</Application>
  <PresentationFormat>Widescreen</PresentationFormat>
  <Paragraphs>22</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Unicode MS</vt:lpstr>
      <vt:lpstr>Tw Cen MT</vt:lpstr>
      <vt:lpstr>Tw Cen MT Condensed</vt:lpstr>
      <vt:lpstr>Wingdings 3</vt:lpstr>
      <vt:lpstr>ModernClassicBlock-3</vt:lpstr>
      <vt:lpstr>Introduction to Traffic Prediction</vt:lpstr>
      <vt:lpstr>problem statement </vt:lpstr>
      <vt:lpstr>Our solution </vt:lpstr>
      <vt:lpstr>Advantages of Our Traffic Prediction System.  1. Advanced Data Processing &amp; Scalability: Efficiently handles large datasets with cleaning and resampling techniques, ensuring the system scales for diverse traffic patterns, like those in PEMS08. 2. Multi-Factor Analysis &amp; Feature Optimization: Incorporates multiple factors such as traffic flow, occupancy, and speed to enhance prediction accuracy, while feature engineering captures critical trends like peak congestion periods. 3. Robust Machine Learning Models: Utilizes advanced algorithms (e.g., LSTM) to deliver reliable, dynamic predictions that adapt to real-world traffic conditions. 4. Customizable &amp; Adaptable for Various Scenarios: The system can be tailored for different locations and traffic conditions, with flexible models that adapt based on specific data and parameters.     </vt:lpstr>
      <vt:lpstr>DATASET  From Caltrans Performance Measurement System (PeMS). traffic data real-time from over 39,000 individual detectors. These sensors span the freeway system across all major metropolitan areas of the State of California.PeMS is also an Archived Data User Service (ADUS) that provides over ten years of data for historical analysis.  source:https://pems.dot.ca.gov/ </vt:lpstr>
      <vt:lpstr>DATASET:    PEMS 08 Contains the traffic data in San Bernardino from July to August in 2016. There are 170 locations with detectors recording  every 5 minute intervals of traffic information.  The dataset includes 3 features: flow, occupy, speed.   The flow variable in the PEMS08 dataset represents the number of vehicles that pass through the loop detector per time interval (5 minutes in this case). It is measured in vehicles per 5-minute interval.      The occupancy variable represents the proportion of time during the time interval (5 minutes) that the detector was occupied by a vehicle. It is measured as a percentage.      The speed variable represents the average speed of the vehicles passing through the loop detector during the time interval (5 minutes). It is measured in miles per hour (mph).  Source : https://pems.dot.ca.gov/,                Ben-Ao Dai, Bao-Lin Ye, Lingxi Li - A novel hybrid time-varying graph neural network for                      traffic flow forecasting</vt:lpstr>
      <vt:lpstr>PROCESSING:  A NumPy archive (NPZ) file containing arrays was downloaded and subsequently converted into a CSV file named traffic.csv. This file provides time series data recorded at 5-minute intervals for 170 locations.  We have then converted this data into 2hr intervals, taking the average of 24 timesteps, as the dataset was very large.</vt:lpstr>
      <vt:lpstr> LSTM Model for Traffic Prediction     Data Preprocessing:  The dataset contains traffic flow, occupancy, and speed features. Features are scaled using MinMaxScaler. Data is sorted by location and 2-hour time intervals.      Sequence Creation:  24 timesteps (2-hour intervals) are used to predict the traffic flow at the next timestep.     Model Architecture:   A Sequential model with an LSTM layer (64 units) to capture temporal patterns. A Dense output layer to predict the next flow value. </vt:lpstr>
      <vt:lpstr>Training:   Train-test split: 80% for training, 20% for testing., Loss: Mean Absolute Error (MAE). Trained for 20 epochs with a batch size of 32.     Results:  The model is evaluated using MAE on the test set, and predictions are made for future flow values</vt:lpstr>
      <vt:lpstr> Machine learning model for the following :   Filter and Sort Data Select data for the specified location and sort by datetime. Prepare Data Sequences Create input sequences (features like flow, occupy, speed) and output values (flow) for prediction. Make Predictions with LSTM Model Use the trained LSTM model to predict traffic flow based on the input sequences. Rescale Data Rescale both predicted and actual traffic flow values back to the original scale. Plot Results Visualize the actual vs predicted traffic flow over time with properly formatted dates.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2024-10-22T06:13:08Z</dcterms:created>
  <dcterms:modified xsi:type="dcterms:W3CDTF">2025-04-09T06:18:59Z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